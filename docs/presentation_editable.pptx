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Level F1 (vs. judge)</c:v>
                </c:pt>
              </c:strCache>
            </c:strRef>
          </c:tx>
          <c:spPr>
            <a:ln>
              <a:solidFill>
                <a:srgbClr val="2563EB"/>
              </a:solidFill>
            </a:ln>
          </c:spP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0.78</c:v>
                </c:pt>
                <c:pt idx="1">
                  <c:v>0.81</c:v>
                </c:pt>
                <c:pt idx="2">
                  <c:v>0.8</c:v>
                </c:pt>
                <c:pt idx="3">
                  <c:v>0.83</c:v>
                </c:pt>
                <c:pt idx="4">
                  <c:v>0.86</c:v>
                </c:pt>
                <c:pt idx="5">
                  <c:v>0.85</c:v>
                </c:pt>
                <c:pt idx="6">
                  <c:v>0.88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Summary quality (÷10)</c:v>
                </c:pt>
              </c:strCache>
            </c:strRef>
          </c:tx>
          <c:spPr>
            <a:ln>
              <a:solidFill>
                <a:srgbClr val="D97706"/>
              </a:solidFill>
            </a:ln>
          </c:spP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0.7</c:v>
                </c:pt>
                <c:pt idx="1">
                  <c:v>0.72</c:v>
                </c:pt>
                <c:pt idx="2">
                  <c:v>0.74</c:v>
                </c:pt>
                <c:pt idx="3">
                  <c:v>0.73</c:v>
                </c:pt>
                <c:pt idx="4">
                  <c:v>0.76</c:v>
                </c:pt>
                <c:pt idx="5">
                  <c:v>0.78</c:v>
                </c:pt>
                <c:pt idx="6">
                  <c:v>0.79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41848" y="1463040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E293B"/>
                </a:solidFill>
                <a:latin typeface="Inter"/>
              </a:rPr>
              <a:t>Email Triage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4248" y="3520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64748B"/>
                </a:solidFill>
                <a:latin typeface="Inter"/>
              </a:rPr>
              <a:t>A token-efficient, multi-stage pipeline that filters noise for free, classifies the rest with a cheap model, and reserves premium LLM calls for the handful of emails that actually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4248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563EB"/>
                </a:solidFill>
                <a:latin typeface="Inter"/>
              </a:rPr>
              <a:t>Tiered triage pipeline   ·   Reranker-based routing   ·   Nightly quality audits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3977639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2563EB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93B"/>
                </a:solidFill>
                <a:latin typeface="Inter"/>
              </a:rPr>
              <a:t>You can't afford to run every email through a premium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Inter"/>
              </a:rPr>
              <a:t>A naive pipeline sends every unread message's full body to a summarization model. Most inbox volume is noise — but the cost and latency scale with total volume, not with what's actually important.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4924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DC2626"/>
                </a:solidFill>
                <a:latin typeface="Inter"/>
              </a:rPr>
              <a:t>Naive approach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1,000 unread emails → 1,000 full-body fetches → 1,000 premium LLM calls, every single sync.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743200"/>
            <a:ext cx="534924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059669"/>
                </a:solidFill>
                <a:latin typeface="Inter"/>
              </a:rPr>
              <a:t>Tiered approach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1,000 unread emails → most resolved for free or by a cheap model → only the truly important ones ever reach the premium summarizer.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4748B"/>
                </a:solidFill>
                <a:latin typeface="Inter"/>
              </a:rPr>
              <a:t>Every processed message is cached by Message-ID — re-running the pipeline on mail it's already seen costs zero additional tokens.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297679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2563EB"/>
                </a:solidFill>
                <a:latin typeface="Inter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93B"/>
                </a:solidFill>
                <a:latin typeface="Inter"/>
              </a:rPr>
              <a:t>Escalating tiers — cheapest checks run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Inter"/>
              </a:rPr>
              <a:t>Every unread email is evaluated in order until a level is decided. Each later stage costs more tokens and latency, so it only ever runs on whatever the cheaper stages couldn't confidently resolve.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93B"/>
                </a:solidFill>
                <a:latin typeface="Inter"/>
              </a:rPr>
              <a:t>Stage 0</a:t>
            </a:r>
            <a:br/>
            <a:r>
              <a:t>Static filter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Inter"/>
              </a:rPr>
              <a:t>regex / blacklist —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0403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64748B"/>
                </a:solidFill>
                <a:latin typeface="Inter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65176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93B"/>
                </a:solidFill>
                <a:latin typeface="Inter"/>
              </a:rPr>
              <a:t>Stage 0.5</a:t>
            </a:r>
            <a:br/>
            <a:r>
              <a:t>Reranker router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Inter"/>
              </a:rPr>
              <a:t>semantic score — cheap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0403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64748B"/>
                </a:solidFill>
                <a:latin typeface="Inter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5176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93B"/>
                </a:solidFill>
                <a:latin typeface="Inter"/>
              </a:rPr>
              <a:t>Stage 1</a:t>
            </a:r>
            <a:br/>
            <a:r>
              <a:t>LLM classify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Inter"/>
              </a:rPr>
              <a:t>ternary decision — cheap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0403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64748B"/>
                </a:solidFill>
                <a:latin typeface="Inte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65176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93B"/>
                </a:solidFill>
                <a:latin typeface="Inter"/>
              </a:rPr>
              <a:t>Stage 2</a:t>
            </a:r>
            <a:br/>
            <a:r>
              <a:t>Premium summary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Inter"/>
              </a:rPr>
              <a:t>full body — expensive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4748B"/>
                </a:solidFill>
                <a:latin typeface="Inter"/>
              </a:rPr>
              <a:t>A VIP-sender bypass and a low-confidence escalation safety net sit alongside this main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697479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2563EB"/>
                </a:solidFill>
                <a:latin typeface="Inter"/>
              </a:rPr>
              <a:t>STAGE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93B"/>
                </a:solidFill>
                <a:latin typeface="Inter"/>
              </a:rPr>
              <a:t>VIP bypass &amp; the static noise filter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49240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VIP bypass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If the sender matches whitelist_vip_senders, skip straight to Stage 2 — full body fetch and a premium summary. No triage decision needed for people who always matter.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349240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Level 0 — static, free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Regex/substring match against blacklist_keywords / blacklist_senders, unless the sender's domain is whitelisted. A hit tags the message low / level 0 — no network call, no LLM 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11064240" cy="1005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Example blacklist keywords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unsubscribe · newsletter · promotions · marketing · no-reply · noreply · digest · advertisement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717804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2563EB"/>
                </a:solidFill>
                <a:latin typeface="Inter"/>
              </a:rPr>
              <a:t>STAGE 0.5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93B"/>
                </a:solidFill>
                <a:latin typeface="Inter"/>
              </a:rPr>
              <a:t>How the reranker router actually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Inter"/>
              </a:rPr>
              <a:t>Not an LLM call — a semantic reranker (a Cohere/Jina-style /rerank endpoint) scores each email's relevance against two fixed “anchor” documents representing importance and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5349240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“Important” anchor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“An urgent personal message from a specific person requiring your direct reply, decision, or action, such as a work request, deadline, bill, or critical account issue.”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14600"/>
            <a:ext cx="5349240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“Noise” anchor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“An automated system notification, media download alert, promotional marketing email, newsletter, or subscription update that does not require any reply or action from you.”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7947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4748B"/>
                          </a:solidFill>
                          <a:latin typeface="Inter"/>
                        </a:rPr>
                        <a:t>Step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4748B"/>
                          </a:solidFill>
                          <a:latin typeface="Inter"/>
                        </a:rPr>
                        <a:t>What happens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1. Build the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From: {sender} | Subject: {subject} | Snippet: {snippet}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2. Call the reranker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POST /rerank {model, query, documents:[important, noise]} → {results:[{index, relevance_score}]}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3. Route on thresholds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importance ≥ 0.95 and ≥ noise → Level 2  ·  noise ≥ 0.999 and &gt; importance → Level 0  ·  otherwise → Level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697479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2563EB"/>
                </a:solidFill>
                <a:latin typeface="Inter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93B"/>
                </a:solidFill>
                <a:latin typeface="Inter"/>
              </a:rPr>
              <a:t>Cheap LLM ternary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Inter"/>
              </a:rPr>
              <a:t>Sends only From / Subject / Snippet — never the full body — to a cheap model via an OpenAI-compatible /chat/completions proxy, expecting a strict JSON decision.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6888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4748B"/>
                          </a:solidFill>
                          <a:latin typeface="Inter"/>
                        </a:rPr>
                        <a:t>Field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4748B"/>
                          </a:solidFill>
                          <a:latin typeface="Inter"/>
                        </a:rPr>
                        <a:t>Meaning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suggested_level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0 (noise) · 1 (notification) · 2 (important)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reason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short natural-language justification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confidence_score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0.0 –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tag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one-word classification, e.g. promotion, personal, vip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4748B"/>
                </a:solidFill>
                <a:latin typeface="Inter"/>
              </a:rPr>
              <a:t>The same rerank-based classifier from Stage 0.5 can also stand in here (triage_type: "tei") instead of an LLM call.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85800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2563EB"/>
                </a:solidFill>
                <a:latin typeface="Inter"/>
              </a:rPr>
              <a:t>SAFETY NET &amp; 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93B"/>
                </a:solidFill>
                <a:latin typeface="Inter"/>
              </a:rPr>
              <a:t>Ambiguity escalation, then the premium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Ambiguity escalation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If Stage 1's confidence_score falls below confidence_threshold (default 0.8), the full body is fetched and re-evaluated by the premium model — a rare safety net, not the normal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Level 2 — premium summarization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Only for messages that land here: full body → premium model → a bulleted executive summary, plus its own confidence score and tag.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110642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SummaryResult schema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summary (string) · confidence_score (0.0–1.0) · tag (e.g. vip)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297679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2563EB"/>
                </a:solidFill>
                <a:latin typeface="Inter"/>
              </a:rPr>
              <a:t>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93B"/>
                </a:solidFill>
                <a:latin typeface="Inter"/>
              </a:rPr>
              <a:t>Cache everything — pay for a message exactly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Inter"/>
              </a:rPr>
              <a:t>Every processed message is keyed by its RFC Message-ID in a SQLite email_cache table: triage level, tag, reason, score, summary, and per-stage token/duration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35204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563EB"/>
                </a:solidFill>
                <a:latin typeface="Inter"/>
              </a:rPr>
              <a:t>0</a:t>
            </a:r>
          </a:p>
          <a:p>
            <a:pPr algn="ctr"/>
            <a:r>
              <a:rPr sz="1100">
                <a:solidFill>
                  <a:srgbClr val="64748B"/>
                </a:solidFill>
                <a:latin typeface="Inter"/>
              </a:rPr>
              <a:t>tokens spent re-processing an already-cached message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2651760"/>
            <a:ext cx="35204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563EB"/>
                </a:solidFill>
                <a:latin typeface="Inter"/>
              </a:rPr>
              <a:t>1</a:t>
            </a:r>
          </a:p>
          <a:p>
            <a:pPr algn="ctr"/>
            <a:r>
              <a:rPr sz="1100">
                <a:solidFill>
                  <a:srgbClr val="64748B"/>
                </a:solidFill>
                <a:latin typeface="Inter"/>
              </a:rPr>
              <a:t>row per message, updated in place as it moves through stages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2651760"/>
            <a:ext cx="35204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563EB"/>
                </a:solidFill>
                <a:latin typeface="Inter"/>
              </a:rPr>
              <a:t>2</a:t>
            </a:r>
          </a:p>
          <a:p>
            <a:pPr algn="ctr"/>
            <a:r>
              <a:rPr sz="1100">
                <a:solidFill>
                  <a:srgbClr val="64748B"/>
                </a:solidFill>
                <a:latin typeface="Inter"/>
              </a:rPr>
              <a:t>write phases — download (metadata/body) and triage (decision)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4748B"/>
                </a:solidFill>
                <a:latin typeface="Inter"/>
              </a:rPr>
              <a:t>A row can exist before triage runs (metadata downloaded, not yet classified) — “processed” specifically means triage_level IS NOT NULL.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8138159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2563EB"/>
                </a:solidFill>
                <a:latin typeface="Inter"/>
              </a:rPr>
              <a:t>PRODUCTION QUALITY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93B"/>
                </a:solidFill>
                <a:latin typeface="Inter"/>
              </a:rPr>
              <a:t>How do you know accuracy holds — without reading every email?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Inter"/>
              </a:rPr>
              <a:t>Cheap models drift silently. A nightly “no-look” audit samples already-triaged mail, has a separate judge model independently re-decide, and compares the two — no human has to read anything.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49240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Stratified sampling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Sampled per triage level (0/1/2), not as one flat draw — so a small sample rate can't miss an entire level by chance. Pooled across a user's accounts so a low-volume mailbox isn't rounded to zero.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743200"/>
            <a:ext cx="5349240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Example — 10% sample rate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24h window: 20 level-0 + 50 level-1 + 30 level-2 emails → sampled: 2 + 5 + 3 — matching each level's share, minimum 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8138159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2563EB"/>
                </a:solidFill>
                <a:latin typeface="Inter"/>
              </a:rPr>
              <a:t>PRODUCTION QUALITY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93B"/>
                </a:solidFill>
                <a:latin typeface="Inter"/>
              </a:rPr>
              <a:t>Judge, compare, measure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93B"/>
                </a:solidFill>
                <a:latin typeface="Inter"/>
              </a:rPr>
              <a:t>Sample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Inter"/>
              </a:rPr>
              <a:t>stratified by level, pooled across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64748B"/>
                </a:solidFill>
                <a:latin typeface="Inter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93B"/>
                </a:solidFill>
                <a:latin typeface="Inter"/>
              </a:rPr>
              <a:t>Judge model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Inter"/>
              </a:rPr>
              <a:t>independent re-classification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64748B"/>
                </a:solidFill>
                <a:latin typeface="Inter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93B"/>
                </a:solidFill>
                <a:latin typeface="Inter"/>
              </a:rPr>
              <a:t>Compare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Inter"/>
              </a:rPr>
              <a:t>judge vs. cached production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64748B"/>
                </a:solidFill>
                <a:latin typeface="Inter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8288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93B"/>
                </a:solidFill>
                <a:latin typeface="Inter"/>
              </a:rPr>
              <a:t>Metrics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Inter"/>
              </a:rPr>
              <a:t>stored + trended nightly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349240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Precision / Recall / F1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Macro-averaged over levels {0, 1, 2} — the judge's re-derived level is treated as ground truth, production's cached level as the prediction being evaluated.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200400"/>
            <a:ext cx="5349240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Summary quality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For messages production actually summarized, the judge grades that summary 1–10 on accuracy, conciseness, and actionability.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525780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2563EB"/>
                </a:solidFill>
                <a:latin typeface="Inter"/>
              </a:rPr>
              <a:t>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93B"/>
                </a:solidFill>
                <a:latin typeface="Inter"/>
              </a:rPr>
              <a:t>7-day quality trend,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Inter"/>
              </a:rPr>
              <a:t>Runs nightly (default 01:00 UTC), on-demand via Run now, or backfilled historically with a standalone script. Every run is logged so “nothing ran” is never confused with “it ran and failed”.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371600" y="2468880"/>
          <a:ext cx="944575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2563EB"/>
                </a:solidFill>
                <a:latin typeface="Inter"/>
              </a:rPr>
              <a:t>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93B"/>
                </a:solidFill>
                <a:latin typeface="Inter"/>
              </a:rPr>
              <a:t>Three ways to talk to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Inter"/>
              </a:rPr>
              <a:t>The same tiered engine underneath — main.py and mcp_server.py share the same triage primitives — is exposed three different ways depending on who (or what) is asking.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3520440" cy="2651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CLI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main.py / email-triage.sh — silent JSON-array output by default, built for piping into other tooling. --human for a rich terminal UI, --level 2 --compact for a minified schema tuned for LLM agent consumption.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651760"/>
            <a:ext cx="3520440" cy="2651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MCP server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mcp_server.py — Model Context Protocol server for AI agents/editors. stdio transport for local tools (e.g. Claude Desktop); SSE/HTTP transport for a long-running deployment with the background scheduler and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651760"/>
            <a:ext cx="3749039" cy="2651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Dashboard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A Vite + React SPA — login, per-account sync controls, token usage, integrations, admin settings, and the quality-check trend — talking to the same Starlette routes the MCP server exposes.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4748B"/>
                </a:solidFill>
                <a:latin typeface="Inter"/>
              </a:rPr>
              <a:t>MCP access is per-user, token-based (issued at /api/me/mcp-tokens); the dashboard uses cookie sessions.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2563EB"/>
                </a:solidFill>
                <a:latin typeface="Inter"/>
              </a:rPr>
              <a:t>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93B"/>
                </a:solidFill>
                <a:latin typeface="Inter"/>
              </a:rPr>
              <a:t>What an AI agent can actually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Inter"/>
              </a:rPr>
              <a:t>Eight tools, split between reading cached state (free) and taking action (mutates a mailbox or triggers a live sync).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5349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63240"/>
              </a:tblGrid>
              <a:tr h="822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4748B"/>
                          </a:solidFill>
                          <a:latin typeface="Inter"/>
                        </a:rPr>
                        <a:t>Read-only tool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4748B"/>
                          </a:solidFill>
                          <a:latin typeface="Inter"/>
                        </a:rPr>
                        <a:t>What it does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fetch_and_process_unread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Cached triage/summaries for unread mail — zero token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search_emails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Live Gmail/IMAP search, enriched with cached triage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get_last_download_time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Per-account sync freshness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2377440"/>
          <a:ext cx="5349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63240"/>
              </a:tblGrid>
              <a:tr h="670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4748B"/>
                          </a:solidFill>
                          <a:latin typeface="Inter"/>
                        </a:rPr>
                        <a:t>Action tool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4748B"/>
                          </a:solidFill>
                          <a:latin typeface="Inter"/>
                        </a:rPr>
                        <a:t>What it does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trigger_download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Forces an immediate sync + triage 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mark_emails_as_read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By triage level, a message, or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create_new_draft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Creates a new draft (Gmail or IMAP)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create_draft_reply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Drafts a reply to an existing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send_email_reply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Inter"/>
                        </a:rPr>
                        <a:t>Sends a reply directly, no draft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525780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2563EB"/>
                </a:solidFill>
                <a:latin typeface="Inter"/>
              </a:rPr>
              <a:t>MCP IN THE WILD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93B"/>
                </a:solidFill>
                <a:latin typeface="Inter"/>
              </a:rPr>
              <a:t>Any MCP-compatible client can drive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Inter"/>
              </a:rPr>
              <a:t>Point a client like OpenClaw at the SSE endpoint with a per-user token (issued from /api/me/mcp-tokens), and it gets the same 8 tools an editor or custom agent would — including cached, zero-token-cost reads like fetch_and_process_unread.</a:t>
            </a:r>
          </a:p>
        </p:txBody>
      </p:sp>
      <p:pic>
        <p:nvPicPr>
          <p:cNvPr id="6" name="Picture 5" descr="openclaw_conver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928" y="2286000"/>
            <a:ext cx="5831838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4748B"/>
                </a:solidFill>
                <a:latin typeface="Inter"/>
              </a:rPr>
              <a:t>Illustrative mockup UI, not an actual OpenClaw screenshot — built to show the shape of a real tool-call exchange (request → cached result → synthesized answer).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937759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2563EB"/>
                </a:solidFill>
                <a:latin typeface="Inter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93B"/>
                </a:solidFill>
                <a:latin typeface="Inter"/>
              </a:rPr>
              <a:t>Architecture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4924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Ingestion &amp; pipeline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Gmail API + Zoho/IMAP (XOAUTH2), concurrent per account. CLI (main.py) and MCP server (mcp_server.py, FastMCP) share the same tiered pipeline primitives.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34924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Storage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SQLite throughout — a per-user email_cache.db, plus a shared app.db for users, sessions, integrations, settings, and quality-check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94760"/>
            <a:ext cx="534924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Multi-tenant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DB-backed accounts with real login, per-user multi-account Gmail/Zoho/IMAP OAuth integrations, and per-user MCP tokens for agent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794760"/>
            <a:ext cx="534924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/>
            <a:r>
              <a:rPr sz="1400" b="1">
                <a:solidFill>
                  <a:srgbClr val="1E293B"/>
                </a:solidFill>
                <a:latin typeface="Inter"/>
              </a:rPr>
              <a:t>Dashboard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64748B"/>
                </a:solidFill>
                <a:latin typeface="Inter"/>
              </a:rPr>
              <a:t>A Vite + React SPA — sync controls, token usage, and the quality-check trend — talking to the same Starlette routes the MCP server exposes.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1E293B"/>
                </a:solidFill>
                <a:latin typeface="Inter"/>
              </a:rPr>
              <a:t>Cheap checks first.</a:t>
            </a:r>
          </a:p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1E293B"/>
                </a:solidFill>
                <a:latin typeface="Inter"/>
              </a:rPr>
              <a:t>Premium only where it matters.</a:t>
            </a:r>
          </a:p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1E293B"/>
                </a:solidFill>
                <a:latin typeface="Inter"/>
              </a:rPr>
              <a:t>Quality measured continuously.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64748B"/>
                </a:solidFill>
                <a:latin typeface="Inter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